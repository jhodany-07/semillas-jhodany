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9" r:id="rId2"/>
    <p:sldId id="259" r:id="rId3"/>
    <p:sldId id="290" r:id="rId4"/>
    <p:sldId id="291" r:id="rId5"/>
    <p:sldId id="292" r:id="rId6"/>
    <p:sldId id="299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870"/>
    <a:srgbClr val="E9B36C"/>
    <a:srgbClr val="F5BA7E"/>
    <a:srgbClr val="F6C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C9A577-4AC3-43A1-BAC9-2836F9AE9BD3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58668-E25F-44F9-A8F6-B00E0F1D562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299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8B186-6EA7-4F55-819B-CEB016C79D2A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085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14445-1327-4CF6-CEEA-3DB713C27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68FB77-C6DD-A404-5F15-138C6424B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529BCA-804E-8BDA-31DB-605B136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D1DC7E-2864-07DE-7549-41B075FE7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3D1CC3-EB24-9024-8B3B-BD3D8E58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4598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805B5-F63E-4161-8E55-77D83D10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C8231-617A-B23F-3688-C5F8D2211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52C483-F21E-8F79-ACF2-99F2B86D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31BB48-AD49-9832-2393-85C48458D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E1D939-41DD-0464-C554-87C32C9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915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15B7A-0465-39A1-C5ED-AAE8D97E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07E29C-7952-B370-441C-44E9C9FE2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B18712-0525-B78E-345D-36CC1F58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0CA4F3-E3B7-8322-2830-6BB11C1C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DEB453-3234-D054-321D-DE441BA5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747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C6E06-D244-294F-287C-BBE9E1A0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73F82A-2EC0-C10B-5E4F-0DE5D1BF5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80AC51-198A-56EB-DD3C-E64323206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806955-CDE0-FF34-1A03-5C20226E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558117-9387-9677-487A-CACDFCCB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715E93-4790-C828-7BE7-F6F03497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122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A3F94-6974-780E-DFFC-63E21643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6B7E15-C130-2156-A64D-69BFB2911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424091-A41A-FF66-726A-490448BF0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6CC68F-87D3-46F4-D966-9CAE91F46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954457-1591-B93D-54AD-B2C3E9772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E3DC79-85F9-705D-ECBC-737509E7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0EBB53-BE90-E51C-B2AB-0FA8A4413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BA51068-10E3-259D-31BD-0A1DAF71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378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36E58-1192-A926-55EB-328639D0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6CCFA9-3A1C-27FE-E34B-B345F132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78A63B-A06A-99B0-A703-14FB41A1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D0219B-4685-03FB-AC16-D38EE490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816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BEE0FA-F25E-2374-0181-59F3F4BF4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667311-6405-6D98-79CD-9F705FFCC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A5EBFC-3F3D-A229-6F59-EEB2F5CF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822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3816D0-FF68-3E6F-ED9C-E18B6B8F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22BEC6-E1E5-D987-27B7-D5C9329D8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03B617-860D-8BDA-F972-D0362E623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B9A2FF-C6F2-5F62-9290-BF1A1547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000EB4-667F-B08D-8A57-C4F3E5AE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9537F1-C692-50CA-B48F-A2E3F63F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4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AA134-F6EC-2C8A-57AC-FF442F95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3FC3EF-7C13-4378-55EE-501476BB5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DB084-A4EB-18B1-E87C-AD896AA53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02264E-56FA-1D58-D09C-12D665F5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22AB6D-404A-432F-9C23-832975BC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A7F4D1-111D-E957-AFFE-94F4170C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5939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EE83D-C397-D76D-8DF6-F2448895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ED1157-7A68-AC7B-D383-500B9ADF6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E2C143-0862-9BE4-3739-2AA5BDA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4A57C0-ED9D-4012-2CC7-A98A1EA8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3DE268-5CB6-4ACB-9AD8-3D876F21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305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EF2902-ACA4-8D00-82A4-B480B78AC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133A506-7018-C49B-8902-9C102B5EF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647E92-235C-7248-65EA-FA40E6D6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668CD5-63E7-559E-9D7F-B5C4DBEA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2D8507-BE3D-2521-13DB-D6CCEED0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051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B886A76-F3AF-ACFC-6831-29A2BB2A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62E2F-E8B3-261D-95F7-7488B3E24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84C85A-C276-112A-4707-4315D6B80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34484-87EF-4504-99E1-02B6034846B7}" type="datetimeFigureOut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864A13-8758-53D7-7B52-F79896806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1183B4-D347-E4EC-8D4E-31149BB93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8F3A9-F6E6-43F0-8847-DD0D285AC1E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319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7546174021@untrm.edu.pe" TargetMode="External"/><Relationship Id="rId3" Type="http://schemas.openxmlformats.org/officeDocument/2006/relationships/image" Target="../media/image2.png"/><Relationship Id="rId7" Type="http://schemas.openxmlformats.org/officeDocument/2006/relationships/hyperlink" Target="mailto:7085037121@untrm.edu.p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7603277821@untrm.edu.pe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mailto:7456049821@untrm.edu.pe1" TargetMode="External"/><Relationship Id="rId4" Type="http://schemas.openxmlformats.org/officeDocument/2006/relationships/image" Target="../media/image3.jpeg"/><Relationship Id="rId9" Type="http://schemas.openxmlformats.org/officeDocument/2006/relationships/hyperlink" Target="mailto:7030447081@untrm.edu.pe4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nfo.inia.uy/digital/bitstream/item/12563/1/Pasantia-Post-grado-Merola-Saulo-Diaz-2012.pdf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067/S0718-34292014000100006" TargetMode="External"/><Relationship Id="rId4" Type="http://schemas.openxmlformats.org/officeDocument/2006/relationships/hyperlink" Target="https://www.youtube.com/watch?v=3ibIup5d4c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F107D8C-00FC-75C9-522D-2D3C9CDBD0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2696"/>
            <a:ext cx="12204357" cy="2937476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645553E1-30F3-EF6D-2129-35B0D4B95C58}"/>
              </a:ext>
            </a:extLst>
          </p:cNvPr>
          <p:cNvSpPr txBox="1">
            <a:spLocks/>
          </p:cNvSpPr>
          <p:nvPr/>
        </p:nvSpPr>
        <p:spPr>
          <a:xfrm>
            <a:off x="826572" y="2079905"/>
            <a:ext cx="10942845" cy="20568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4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Efecto de la escarificación física y química en la germinación de semillas de garbanzo (</a:t>
            </a:r>
            <a:r>
              <a:rPr lang="es-PE" sz="40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4000" b="1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40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4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4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Logotipo - UNTRM">
            <a:extLst>
              <a:ext uri="{FF2B5EF4-FFF2-40B4-BE49-F238E27FC236}">
                <a16:creationId xmlns:a16="http://schemas.microsoft.com/office/drawing/2014/main" id="{337FACEE-9E5A-3BF7-0505-A295A8628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7" y="171207"/>
            <a:ext cx="3250005" cy="95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5029641-7C49-EB72-AE63-D5398591C3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7BDCB3F-B194-3530-0823-61A4697BC3FA}"/>
              </a:ext>
            </a:extLst>
          </p:cNvPr>
          <p:cNvSpPr txBox="1"/>
          <p:nvPr/>
        </p:nvSpPr>
        <p:spPr>
          <a:xfrm>
            <a:off x="11209745" y="5794795"/>
            <a:ext cx="677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 dirty="0"/>
              <a:t>2025</a:t>
            </a:r>
            <a:endParaRPr lang="es-PE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9658F8-BE87-44EB-9AA9-DA7B7AED7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727" y="132307"/>
            <a:ext cx="1109355" cy="1227565"/>
          </a:xfrm>
          <a:prstGeom prst="rect">
            <a:avLst/>
          </a:prstGeom>
        </p:spPr>
      </p:pic>
      <p:sp>
        <p:nvSpPr>
          <p:cNvPr id="17" name="Marcador de fecha 16">
            <a:extLst>
              <a:ext uri="{FF2B5EF4-FFF2-40B4-BE49-F238E27FC236}">
                <a16:creationId xmlns:a16="http://schemas.microsoft.com/office/drawing/2014/main" id="{89A889D8-25A7-43E0-8409-7BB84285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2923082" cy="365125"/>
          </a:xfrm>
        </p:spPr>
        <p:txBody>
          <a:bodyPr/>
          <a:lstStyle/>
          <a:p>
            <a:fld id="{BF008430-D29B-4036-92CA-39ED10C0C6A0}" type="datetime1">
              <a:rPr lang="es-PE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25/05/2025</a:t>
            </a:fld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269CB74-19AC-4E84-B903-FAAF51AB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281" y="6321668"/>
            <a:ext cx="7848602" cy="365125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Efecto de la escarificación física y química en la germinación de semillas de garbanzo (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1200" b="1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DA43E4FC-562B-441E-93D9-B4184706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4A274104-2DDF-478D-88A5-3013093AAB1E}"/>
              </a:ext>
            </a:extLst>
          </p:cNvPr>
          <p:cNvSpPr txBox="1">
            <a:spLocks/>
          </p:cNvSpPr>
          <p:nvPr/>
        </p:nvSpPr>
        <p:spPr>
          <a:xfrm>
            <a:off x="8241535" y="4583975"/>
            <a:ext cx="3814912" cy="18590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Hidrogo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Paredes </a:t>
            </a:r>
            <a:r>
              <a:rPr lang="es-PE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Jhinmy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Yhanner</a:t>
            </a:r>
            <a:r>
              <a:rPr lang="es-PE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Mondragón Herrera Edwin</a:t>
            </a:r>
            <a:r>
              <a:rPr lang="es-PE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Parejas Gonzales, Jhodany</a:t>
            </a:r>
            <a:r>
              <a:rPr lang="es-PE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3*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Pizarro Zavaleta Nixon</a:t>
            </a:r>
            <a:r>
              <a:rPr lang="es-PE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4*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/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Vega Chávez Gimena</a:t>
            </a:r>
            <a:r>
              <a:rPr lang="es-PE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5*</a:t>
            </a:r>
            <a:r>
              <a:rPr lang="es-P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s-P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8">
            <a:extLst>
              <a:ext uri="{FF2B5EF4-FFF2-40B4-BE49-F238E27FC236}">
                <a16:creationId xmlns:a16="http://schemas.microsoft.com/office/drawing/2014/main" id="{A6D32821-D76A-47CB-A043-74A51A9739B6}"/>
              </a:ext>
            </a:extLst>
          </p:cNvPr>
          <p:cNvSpPr txBox="1"/>
          <p:nvPr/>
        </p:nvSpPr>
        <p:spPr>
          <a:xfrm>
            <a:off x="241924" y="4795521"/>
            <a:ext cx="75933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s-MX" sz="1600" kern="1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 de Producción y Tecnología de Semillas, Facultad de Ingeniería y ciencias agrarias, Universidad Nacional Toribio Rodríguez de Mendoza (UNTRM), Perú. </a:t>
            </a:r>
          </a:p>
          <a:p>
            <a:pPr algn="just"/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*Autor de correspondencia: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7603277821@untrm.edu.pe</a:t>
            </a:r>
            <a:r>
              <a:rPr lang="es-PE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7085037121@untrm.edu.pe</a:t>
            </a:r>
            <a:r>
              <a:rPr lang="es-PE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7546174021@untrm.edu.pe</a:t>
            </a:r>
            <a:r>
              <a:rPr lang="es-PE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7030447081@untrm.edu.pe</a:t>
            </a:r>
            <a:r>
              <a:rPr lang="es-PE" sz="1800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9"/>
              </a:rPr>
              <a:t>4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7456049821@untrm.edu.pe</a:t>
            </a:r>
            <a:r>
              <a:rPr lang="es-PE" sz="1800" kern="12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10"/>
              </a:rPr>
              <a:t>1</a:t>
            </a:r>
            <a:r>
              <a:rPr lang="es-PE" sz="1800" kern="12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s-P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BBC1BFD-99DC-4DB8-8F7A-3CC1876F333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891" y="384303"/>
            <a:ext cx="2903383" cy="106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72"/>
    </mc:Choice>
    <mc:Fallback xmlns="">
      <p:transition spd="slow" advTm="170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76FE02B4-0C46-4F8F-95ED-10A87E0C0F36}"/>
              </a:ext>
            </a:extLst>
          </p:cNvPr>
          <p:cNvSpPr txBox="1"/>
          <p:nvPr/>
        </p:nvSpPr>
        <p:spPr>
          <a:xfrm>
            <a:off x="1890620" y="615405"/>
            <a:ext cx="30543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I. OBJETIVOS</a:t>
            </a:r>
          </a:p>
          <a:p>
            <a:endParaRPr lang="es-PE" sz="3200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8EEB121-5F7D-8768-0F54-2ECF0F96CB51}"/>
              </a:ext>
            </a:extLst>
          </p:cNvPr>
          <p:cNvCxnSpPr/>
          <p:nvPr/>
        </p:nvCxnSpPr>
        <p:spPr>
          <a:xfrm>
            <a:off x="739588" y="1196788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129E17B1-9830-A0C9-1942-4BA91D6BCEDD}"/>
              </a:ext>
            </a:extLst>
          </p:cNvPr>
          <p:cNvSpPr/>
          <p:nvPr/>
        </p:nvSpPr>
        <p:spPr>
          <a:xfrm>
            <a:off x="269823" y="1805623"/>
            <a:ext cx="4070677" cy="3965587"/>
          </a:xfrm>
          <a:prstGeom prst="ellips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A9B3FC0-C26A-751A-A545-FACD301ABE79}"/>
              </a:ext>
            </a:extLst>
          </p:cNvPr>
          <p:cNvSpPr txBox="1"/>
          <p:nvPr/>
        </p:nvSpPr>
        <p:spPr>
          <a:xfrm>
            <a:off x="985766" y="2558660"/>
            <a:ext cx="2638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spc="-10" dirty="0">
                <a:effectLst/>
                <a:highlight>
                  <a:srgbClr val="C0C0C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CB25830-7D08-5C18-23DE-AF6904E671BB}"/>
              </a:ext>
            </a:extLst>
          </p:cNvPr>
          <p:cNvSpPr/>
          <p:nvPr/>
        </p:nvSpPr>
        <p:spPr>
          <a:xfrm>
            <a:off x="3988092" y="2696591"/>
            <a:ext cx="180414" cy="190267"/>
          </a:xfrm>
          <a:prstGeom prst="ellipse">
            <a:avLst/>
          </a:prstGeom>
          <a:solidFill>
            <a:srgbClr val="04A597"/>
          </a:solidFill>
          <a:ln>
            <a:solidFill>
              <a:srgbClr val="04A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7BFF5938-F0E4-4A2B-BE71-32EC4A4760C5}"/>
              </a:ext>
            </a:extLst>
          </p:cNvPr>
          <p:cNvSpPr/>
          <p:nvPr/>
        </p:nvSpPr>
        <p:spPr>
          <a:xfrm>
            <a:off x="4202907" y="3689025"/>
            <a:ext cx="180414" cy="190267"/>
          </a:xfrm>
          <a:prstGeom prst="ellipse">
            <a:avLst/>
          </a:prstGeom>
          <a:solidFill>
            <a:srgbClr val="3E74AB"/>
          </a:solidFill>
          <a:ln>
            <a:solidFill>
              <a:srgbClr val="3E74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028148C-D6C7-EF16-90A9-FB10175CC4D6}"/>
              </a:ext>
            </a:extLst>
          </p:cNvPr>
          <p:cNvSpPr/>
          <p:nvPr/>
        </p:nvSpPr>
        <p:spPr>
          <a:xfrm>
            <a:off x="3988092" y="4678518"/>
            <a:ext cx="180414" cy="190267"/>
          </a:xfrm>
          <a:prstGeom prst="ellipse">
            <a:avLst/>
          </a:prstGeom>
          <a:solidFill>
            <a:srgbClr val="5F5CA2"/>
          </a:solidFill>
          <a:ln>
            <a:solidFill>
              <a:srgbClr val="5F5C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9151DEC-ACFA-F074-CF75-2D7CA24F11BB}"/>
              </a:ext>
            </a:extLst>
          </p:cNvPr>
          <p:cNvCxnSpPr>
            <a:cxnSpLocks/>
            <a:stCxn id="22" idx="6"/>
            <a:endCxn id="33" idx="2"/>
          </p:cNvCxnSpPr>
          <p:nvPr/>
        </p:nvCxnSpPr>
        <p:spPr>
          <a:xfrm>
            <a:off x="4168506" y="2791725"/>
            <a:ext cx="734524" cy="0"/>
          </a:xfrm>
          <a:prstGeom prst="line">
            <a:avLst/>
          </a:prstGeom>
          <a:ln>
            <a:solidFill>
              <a:srgbClr val="04A5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25C1BBC-C65E-54D6-FDD0-8AC6983DC336}"/>
              </a:ext>
            </a:extLst>
          </p:cNvPr>
          <p:cNvCxnSpPr>
            <a:cxnSpLocks/>
            <a:stCxn id="23" idx="6"/>
            <a:endCxn id="35" idx="2"/>
          </p:cNvCxnSpPr>
          <p:nvPr/>
        </p:nvCxnSpPr>
        <p:spPr>
          <a:xfrm>
            <a:off x="4383321" y="3784159"/>
            <a:ext cx="517949" cy="7766"/>
          </a:xfrm>
          <a:prstGeom prst="line">
            <a:avLst/>
          </a:prstGeom>
          <a:ln>
            <a:solidFill>
              <a:srgbClr val="3E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B5265288-402A-759E-00C9-27671113260A}"/>
              </a:ext>
            </a:extLst>
          </p:cNvPr>
          <p:cNvCxnSpPr>
            <a:cxnSpLocks/>
            <a:stCxn id="24" idx="6"/>
            <a:endCxn id="37" idx="2"/>
          </p:cNvCxnSpPr>
          <p:nvPr/>
        </p:nvCxnSpPr>
        <p:spPr>
          <a:xfrm>
            <a:off x="4168506" y="4773652"/>
            <a:ext cx="738324" cy="20942"/>
          </a:xfrm>
          <a:prstGeom prst="line">
            <a:avLst/>
          </a:prstGeom>
          <a:ln>
            <a:solidFill>
              <a:srgbClr val="5F5C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E37C7264-0E78-7A21-4742-7C712B4BDAEA}"/>
              </a:ext>
            </a:extLst>
          </p:cNvPr>
          <p:cNvSpPr/>
          <p:nvPr/>
        </p:nvSpPr>
        <p:spPr>
          <a:xfrm>
            <a:off x="4959853" y="2469917"/>
            <a:ext cx="622301" cy="643613"/>
          </a:xfrm>
          <a:prstGeom prst="ellipse">
            <a:avLst/>
          </a:prstGeom>
          <a:solidFill>
            <a:srgbClr val="04A597"/>
          </a:solidFill>
          <a:ln>
            <a:solidFill>
              <a:srgbClr val="04A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7356300-594C-3800-1A3B-686818FC2821}"/>
              </a:ext>
            </a:extLst>
          </p:cNvPr>
          <p:cNvSpPr/>
          <p:nvPr/>
        </p:nvSpPr>
        <p:spPr>
          <a:xfrm>
            <a:off x="4903030" y="2405332"/>
            <a:ext cx="735948" cy="772785"/>
          </a:xfrm>
          <a:prstGeom prst="ellipse">
            <a:avLst/>
          </a:prstGeom>
          <a:noFill/>
          <a:ln>
            <a:solidFill>
              <a:srgbClr val="04A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0E1CA17-C384-AACF-D31C-019C21A34770}"/>
              </a:ext>
            </a:extLst>
          </p:cNvPr>
          <p:cNvSpPr/>
          <p:nvPr/>
        </p:nvSpPr>
        <p:spPr>
          <a:xfrm>
            <a:off x="4958093" y="3470117"/>
            <a:ext cx="622301" cy="643613"/>
          </a:xfrm>
          <a:prstGeom prst="ellipse">
            <a:avLst/>
          </a:prstGeom>
          <a:solidFill>
            <a:srgbClr val="3E74AB"/>
          </a:solidFill>
          <a:ln>
            <a:solidFill>
              <a:srgbClr val="3E74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E7FEC286-51D3-A60F-FAB4-15D4DF048D2B}"/>
              </a:ext>
            </a:extLst>
          </p:cNvPr>
          <p:cNvSpPr/>
          <p:nvPr/>
        </p:nvSpPr>
        <p:spPr>
          <a:xfrm>
            <a:off x="4901270" y="3405532"/>
            <a:ext cx="735948" cy="772785"/>
          </a:xfrm>
          <a:prstGeom prst="ellipse">
            <a:avLst/>
          </a:prstGeom>
          <a:noFill/>
          <a:ln>
            <a:solidFill>
              <a:srgbClr val="3E74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F789D239-0A90-C2AF-1321-DC8C3CECC567}"/>
              </a:ext>
            </a:extLst>
          </p:cNvPr>
          <p:cNvSpPr/>
          <p:nvPr/>
        </p:nvSpPr>
        <p:spPr>
          <a:xfrm>
            <a:off x="4963653" y="4472786"/>
            <a:ext cx="622301" cy="643613"/>
          </a:xfrm>
          <a:prstGeom prst="ellipse">
            <a:avLst/>
          </a:prstGeom>
          <a:solidFill>
            <a:srgbClr val="5F5CA2"/>
          </a:solidFill>
          <a:ln>
            <a:solidFill>
              <a:srgbClr val="5F5C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71CAFD49-0D45-F31D-DED6-66F510A3690B}"/>
              </a:ext>
            </a:extLst>
          </p:cNvPr>
          <p:cNvSpPr/>
          <p:nvPr/>
        </p:nvSpPr>
        <p:spPr>
          <a:xfrm>
            <a:off x="4906830" y="4408201"/>
            <a:ext cx="735948" cy="772785"/>
          </a:xfrm>
          <a:prstGeom prst="ellipse">
            <a:avLst/>
          </a:prstGeom>
          <a:noFill/>
          <a:ln>
            <a:solidFill>
              <a:srgbClr val="5F5C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6989C1B-AA2F-F208-AE17-80F42E17B1F7}"/>
              </a:ext>
            </a:extLst>
          </p:cNvPr>
          <p:cNvSpPr txBox="1"/>
          <p:nvPr/>
        </p:nvSpPr>
        <p:spPr>
          <a:xfrm>
            <a:off x="6599334" y="1805623"/>
            <a:ext cx="305434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s-ES" b="1" spc="-10" dirty="0">
                <a:latin typeface="Times New Roman" panose="02020603050405020304" pitchFamily="18" charset="0"/>
              </a:rPr>
              <a:t>OBJETIVOS ESPECÌFICOS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1E62B2-4C1D-3CA3-7347-F2D0C52984BC}"/>
              </a:ext>
            </a:extLst>
          </p:cNvPr>
          <p:cNvSpPr txBox="1"/>
          <p:nvPr/>
        </p:nvSpPr>
        <p:spPr>
          <a:xfrm>
            <a:off x="836949" y="3164901"/>
            <a:ext cx="2885904" cy="219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Evaluar el efecto de diferentes métodos de escarificación en la germinación de semillas de garbanzo (</a:t>
            </a:r>
            <a:r>
              <a:rPr lang="es-PE" sz="20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20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s-PE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CE5DA6-502D-36E5-21F9-81D077D4FD18}"/>
              </a:ext>
            </a:extLst>
          </p:cNvPr>
          <p:cNvSpPr txBox="1"/>
          <p:nvPr/>
        </p:nvSpPr>
        <p:spPr>
          <a:xfrm>
            <a:off x="5727340" y="3334269"/>
            <a:ext cx="56802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Estimar el tiempo promedio de germinación de las semillas bajo los distintos tratamientos de escarificación.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AAA631-5305-00A2-2AD3-B1025BCEAF90}"/>
              </a:ext>
            </a:extLst>
          </p:cNvPr>
          <p:cNvSpPr txBox="1"/>
          <p:nvPr/>
        </p:nvSpPr>
        <p:spPr>
          <a:xfrm>
            <a:off x="5727340" y="2306466"/>
            <a:ext cx="56802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Determinar el porcentaje de germinación de semillas de garbanzo (</a:t>
            </a:r>
            <a:r>
              <a:rPr lang="es-MX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Cicer</a:t>
            </a:r>
            <a:r>
              <a:rPr lang="es-MX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arietinum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sometidas a diferentes métodos de escarificación física y química.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E79D857-FC08-310D-955C-5DA2B91FDA37}"/>
              </a:ext>
            </a:extLst>
          </p:cNvPr>
          <p:cNvSpPr txBox="1"/>
          <p:nvPr/>
        </p:nvSpPr>
        <p:spPr>
          <a:xfrm>
            <a:off x="5727340" y="4431806"/>
            <a:ext cx="56802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Calcular el índice de velocidad de germinación en semillas de garbanzo tratadas con métodos físicos y químicos.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51D055-FAC8-BB2D-765F-58CEAC8941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10" name="Marcador de fecha 16">
            <a:extLst>
              <a:ext uri="{FF2B5EF4-FFF2-40B4-BE49-F238E27FC236}">
                <a16:creationId xmlns:a16="http://schemas.microsoft.com/office/drawing/2014/main" id="{E38C2E71-00BC-718D-1A75-DE57CE5760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2923082" cy="365125"/>
          </a:xfrm>
        </p:spPr>
        <p:txBody>
          <a:bodyPr/>
          <a:lstStyle/>
          <a:p>
            <a:fld id="{BF008430-D29B-4036-92CA-39ED10C0C6A0}" type="datetime1">
              <a:rPr lang="es-PE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25/05/2025</a:t>
            </a:fld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Marcador de pie de página 6">
            <a:extLst>
              <a:ext uri="{FF2B5EF4-FFF2-40B4-BE49-F238E27FC236}">
                <a16:creationId xmlns:a16="http://schemas.microsoft.com/office/drawing/2014/main" id="{685D524E-AD60-2667-10BA-4D2FC4D5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281" y="6321668"/>
            <a:ext cx="7848602" cy="365125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Efecto de la escarificación física y química en la germinación de semillas de garbanzo (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1200" b="1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Marcador de número de diapositiva 17">
            <a:extLst>
              <a:ext uri="{FF2B5EF4-FFF2-40B4-BE49-F238E27FC236}">
                <a16:creationId xmlns:a16="http://schemas.microsoft.com/office/drawing/2014/main" id="{35558D05-EC1A-02B7-C1B5-61EC05FC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Garbanzos Multicereales PNG ,dibujos Granos Diversos, Semilla, Garbanzos  PNG Imagen para Descarga Gratuita | Pngtree">
            <a:extLst>
              <a:ext uri="{FF2B5EF4-FFF2-40B4-BE49-F238E27FC236}">
                <a16:creationId xmlns:a16="http://schemas.microsoft.com/office/drawing/2014/main" id="{09EE38AE-9FCF-9B50-BF10-7769A6761A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0" t="33967" r="24402" b="27563"/>
          <a:stretch/>
        </p:blipFill>
        <p:spPr bwMode="auto">
          <a:xfrm flipH="1">
            <a:off x="4924205" y="2560942"/>
            <a:ext cx="690075" cy="51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Garbanzos Multicereales PNG ,dibujos Granos Diversos, Semilla, Garbanzos  PNG Imagen para Descarga Gratuita | Pngtree">
            <a:extLst>
              <a:ext uri="{FF2B5EF4-FFF2-40B4-BE49-F238E27FC236}">
                <a16:creationId xmlns:a16="http://schemas.microsoft.com/office/drawing/2014/main" id="{9B858E76-4AB1-E155-50F6-2F723B5C67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0" t="33967" r="24402" b="27563"/>
          <a:stretch/>
        </p:blipFill>
        <p:spPr bwMode="auto">
          <a:xfrm flipH="1">
            <a:off x="4924205" y="3551712"/>
            <a:ext cx="690075" cy="51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Garbanzos Multicereales PNG ,dibujos Granos Diversos, Semilla, Garbanzos  PNG Imagen para Descarga Gratuita | Pngtree">
            <a:extLst>
              <a:ext uri="{FF2B5EF4-FFF2-40B4-BE49-F238E27FC236}">
                <a16:creationId xmlns:a16="http://schemas.microsoft.com/office/drawing/2014/main" id="{69DD1EF3-8F02-7D23-65F4-7B55B336F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0" t="33967" r="24402" b="27563"/>
          <a:stretch/>
        </p:blipFill>
        <p:spPr bwMode="auto">
          <a:xfrm flipH="1">
            <a:off x="4947143" y="4580138"/>
            <a:ext cx="690075" cy="515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86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633"/>
    </mc:Choice>
    <mc:Fallback xmlns="">
      <p:transition spd="slow" advTm="516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73A014C3-9112-2CD7-A6C8-6087BB05A94C}"/>
              </a:ext>
            </a:extLst>
          </p:cNvPr>
          <p:cNvCxnSpPr>
            <a:cxnSpLocks/>
          </p:cNvCxnSpPr>
          <p:nvPr/>
        </p:nvCxnSpPr>
        <p:spPr>
          <a:xfrm>
            <a:off x="4195477" y="0"/>
            <a:ext cx="0" cy="6282172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1B123D7B-9826-3409-BE1E-BE9E5BCA27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6">
            <a:extLst>
              <a:ext uri="{FF2B5EF4-FFF2-40B4-BE49-F238E27FC236}">
                <a16:creationId xmlns:a16="http://schemas.microsoft.com/office/drawing/2014/main" id="{8E95F8C2-DDF0-0232-7B8F-7BCC8256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2923082" cy="365125"/>
          </a:xfrm>
        </p:spPr>
        <p:txBody>
          <a:bodyPr/>
          <a:lstStyle/>
          <a:p>
            <a:fld id="{BF008430-D29B-4036-92CA-39ED10C0C6A0}" type="datetime1">
              <a:rPr lang="es-PE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25/05/2025</a:t>
            </a:fld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6">
            <a:extLst>
              <a:ext uri="{FF2B5EF4-FFF2-40B4-BE49-F238E27FC236}">
                <a16:creationId xmlns:a16="http://schemas.microsoft.com/office/drawing/2014/main" id="{2D0E46EE-6438-0A09-7E11-2F793470B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281" y="6321668"/>
            <a:ext cx="7848602" cy="365125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Efecto de la escarificación física y química en la germinación de semillas de garbanzo (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1200" b="1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E27F51DB-E663-F2FF-F338-620F3AC4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C59AA6-9DFF-377F-D907-EB156E8C2C04}"/>
              </a:ext>
            </a:extLst>
          </p:cNvPr>
          <p:cNvSpPr txBox="1"/>
          <p:nvPr/>
        </p:nvSpPr>
        <p:spPr>
          <a:xfrm>
            <a:off x="4470538" y="316365"/>
            <a:ext cx="7143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 MATERIALES Y METODOLOGÍA </a:t>
            </a:r>
          </a:p>
          <a:p>
            <a:endParaRPr lang="es-PE" sz="32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67C9AC1-6DE8-D266-4982-08FE3D99AE02}"/>
              </a:ext>
            </a:extLst>
          </p:cNvPr>
          <p:cNvCxnSpPr/>
          <p:nvPr/>
        </p:nvCxnSpPr>
        <p:spPr>
          <a:xfrm>
            <a:off x="5249130" y="898744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F75FA88A-C23E-07F0-C157-17AA9D6D737E}"/>
              </a:ext>
            </a:extLst>
          </p:cNvPr>
          <p:cNvGrpSpPr/>
          <p:nvPr/>
        </p:nvGrpSpPr>
        <p:grpSpPr>
          <a:xfrm>
            <a:off x="-114232" y="624623"/>
            <a:ext cx="4195474" cy="5009900"/>
            <a:chOff x="6094440" y="704542"/>
            <a:chExt cx="5242809" cy="5357531"/>
          </a:xfrm>
        </p:grpSpPr>
        <p:pic>
          <p:nvPicPr>
            <p:cNvPr id="11" name="Picture 2" descr="25 ideas de Muñecos blancos 3D | imagenes para diapositivas, imagenes para  presentaciones, gente blanca">
              <a:extLst>
                <a:ext uri="{FF2B5EF4-FFF2-40B4-BE49-F238E27FC236}">
                  <a16:creationId xmlns:a16="http://schemas.microsoft.com/office/drawing/2014/main" id="{8E3BAA1D-6202-595B-F524-2EA803B00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440" y="3014073"/>
              <a:ext cx="3048000" cy="30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Bocadillo nube: nube 11">
              <a:extLst>
                <a:ext uri="{FF2B5EF4-FFF2-40B4-BE49-F238E27FC236}">
                  <a16:creationId xmlns:a16="http://schemas.microsoft.com/office/drawing/2014/main" id="{97B54AE1-2E51-FA21-351C-D8076159DA26}"/>
                </a:ext>
              </a:extLst>
            </p:cNvPr>
            <p:cNvSpPr/>
            <p:nvPr/>
          </p:nvSpPr>
          <p:spPr>
            <a:xfrm>
              <a:off x="7450111" y="704542"/>
              <a:ext cx="3887138" cy="2248220"/>
            </a:xfrm>
            <a:prstGeom prst="cloudCallout">
              <a:avLst>
                <a:gd name="adj1" fmla="val -28931"/>
                <a:gd name="adj2" fmla="val 8783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968A127-11F2-1892-D246-7AFC96627326}"/>
              </a:ext>
            </a:extLst>
          </p:cNvPr>
          <p:cNvSpPr txBox="1"/>
          <p:nvPr/>
        </p:nvSpPr>
        <p:spPr>
          <a:xfrm>
            <a:off x="1411296" y="1197529"/>
            <a:ext cx="22292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la escarificación?</a:t>
            </a:r>
            <a:endParaRPr lang="es-P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800A4F5-18BD-0819-A1DE-54A56A420DA7}"/>
              </a:ext>
            </a:extLst>
          </p:cNvPr>
          <p:cNvSpPr txBox="1"/>
          <p:nvPr/>
        </p:nvSpPr>
        <p:spPr>
          <a:xfrm>
            <a:off x="4470538" y="1179336"/>
            <a:ext cx="2336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2.1 Materiales </a:t>
            </a:r>
            <a:endParaRPr lang="es-PE" sz="24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0EE47DC-8CEB-1554-CFF0-04E95A0AF53D}"/>
              </a:ext>
            </a:extLst>
          </p:cNvPr>
          <p:cNvSpPr txBox="1"/>
          <p:nvPr/>
        </p:nvSpPr>
        <p:spPr>
          <a:xfrm>
            <a:off x="4521916" y="1761716"/>
            <a:ext cx="47817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Semillas de garbanzo </a:t>
            </a:r>
            <a:r>
              <a:rPr lang="es-PE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s-PE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Papel toalla.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Agua destilada.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Guantes.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Recipientes plásticos.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Acetona.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Lija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Agua caliente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s-PE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Etiquetas </a:t>
            </a:r>
            <a:endParaRPr lang="es-PE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Picture 2" descr="Garbanzos Multicereales PNG ,dibujos Granos Diversos, Semilla, Garbanzos  PNG Imagen para Descarga Gratuita | Pngtree">
            <a:extLst>
              <a:ext uri="{FF2B5EF4-FFF2-40B4-BE49-F238E27FC236}">
                <a16:creationId xmlns:a16="http://schemas.microsoft.com/office/drawing/2014/main" id="{8D4962DF-2430-4221-DF13-DA575F732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0" t="33967" r="24402" b="27563"/>
          <a:stretch/>
        </p:blipFill>
        <p:spPr bwMode="auto">
          <a:xfrm flipH="1">
            <a:off x="8951839" y="1541269"/>
            <a:ext cx="2797032" cy="209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OLLOS PAPEL TOALLA – Corporación Nanopack Perú S.A.C.">
            <a:extLst>
              <a:ext uri="{FF2B5EF4-FFF2-40B4-BE49-F238E27FC236}">
                <a16:creationId xmlns:a16="http://schemas.microsoft.com/office/drawing/2014/main" id="{EA1C6CB9-940F-5602-463A-74ED98912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167" r="90000">
                        <a14:foregroundMark x1="8167" y1="53500" x2="17333" y2="67833"/>
                        <a14:foregroundMark x1="17333" y1="67833" x2="25833" y2="73833"/>
                        <a14:foregroundMark x1="25833" y1="73833" x2="26167" y2="73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896" y="2211201"/>
            <a:ext cx="1657869" cy="1657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nvase Deli PAMOLSA Super Fast 1 L Transparente D2 Paquete x 50 und|  tailoy.com.pe">
            <a:extLst>
              <a:ext uri="{FF2B5EF4-FFF2-40B4-BE49-F238E27FC236}">
                <a16:creationId xmlns:a16="http://schemas.microsoft.com/office/drawing/2014/main" id="{8D503230-66C5-77A0-80CB-E4812AA94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005" y="3575943"/>
            <a:ext cx="2663047" cy="266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ija al Agua">
            <a:extLst>
              <a:ext uri="{FF2B5EF4-FFF2-40B4-BE49-F238E27FC236}">
                <a16:creationId xmlns:a16="http://schemas.microsoft.com/office/drawing/2014/main" id="{86E677C7-FA81-E2DC-3597-5D1079700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311" y="3640229"/>
            <a:ext cx="1967618" cy="19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95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09843-5E77-A8FD-1BF8-0FE514EAE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DAD901-F49A-E9DD-F6F5-9B30AF494A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6">
            <a:extLst>
              <a:ext uri="{FF2B5EF4-FFF2-40B4-BE49-F238E27FC236}">
                <a16:creationId xmlns:a16="http://schemas.microsoft.com/office/drawing/2014/main" id="{2EAE681A-D99E-8080-7114-F76AE481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2923082" cy="365125"/>
          </a:xfrm>
        </p:spPr>
        <p:txBody>
          <a:bodyPr/>
          <a:lstStyle/>
          <a:p>
            <a:fld id="{BF008430-D29B-4036-92CA-39ED10C0C6A0}" type="datetime1">
              <a:rPr lang="es-PE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25/05/2025</a:t>
            </a:fld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6">
            <a:extLst>
              <a:ext uri="{FF2B5EF4-FFF2-40B4-BE49-F238E27FC236}">
                <a16:creationId xmlns:a16="http://schemas.microsoft.com/office/drawing/2014/main" id="{1ABA1DBB-0E87-9639-43AF-6B077EF7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281" y="6321668"/>
            <a:ext cx="7848602" cy="365125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Efecto de la escarificación física y química en la germinación de semillas de garbanzo (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1200" b="1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1CC3D1DD-469F-F4FE-C5D6-9101CBDD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4A6CD7-8259-FF19-3D7C-BEDD1D5F486C}"/>
              </a:ext>
            </a:extLst>
          </p:cNvPr>
          <p:cNvSpPr txBox="1"/>
          <p:nvPr/>
        </p:nvSpPr>
        <p:spPr>
          <a:xfrm>
            <a:off x="826572" y="256982"/>
            <a:ext cx="7143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 MATERIALES Y METODOLOGÍA </a:t>
            </a:r>
          </a:p>
          <a:p>
            <a:endParaRPr lang="es-PE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87B370-81D0-BF07-A6BD-4E33160C20FD}"/>
              </a:ext>
            </a:extLst>
          </p:cNvPr>
          <p:cNvSpPr txBox="1"/>
          <p:nvPr/>
        </p:nvSpPr>
        <p:spPr>
          <a:xfrm>
            <a:off x="826572" y="1081526"/>
            <a:ext cx="2336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2.2 Metodología </a:t>
            </a:r>
            <a:endParaRPr lang="es-PE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0A8EF7-7F0C-9977-8DB6-2C54050E20DC}"/>
              </a:ext>
            </a:extLst>
          </p:cNvPr>
          <p:cNvSpPr txBox="1"/>
          <p:nvPr/>
        </p:nvSpPr>
        <p:spPr>
          <a:xfrm>
            <a:off x="826572" y="1605713"/>
            <a:ext cx="609600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Selección y preparación de las semillas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E982F83-6DD8-81D6-3840-F4C4F8F9B44F}"/>
              </a:ext>
            </a:extLst>
          </p:cNvPr>
          <p:cNvSpPr txBox="1"/>
          <p:nvPr/>
        </p:nvSpPr>
        <p:spPr>
          <a:xfrm>
            <a:off x="1116858" y="1977650"/>
            <a:ext cx="3687371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seleccionara semillas uniformes, sin daños ni signos de deterioro.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42E1408-B232-DF9C-5BAA-26E2A179B139}"/>
              </a:ext>
            </a:extLst>
          </p:cNvPr>
          <p:cNvSpPr txBox="1"/>
          <p:nvPr/>
        </p:nvSpPr>
        <p:spPr>
          <a:xfrm>
            <a:off x="826572" y="27681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PE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Tratamientos experimentales</a:t>
            </a:r>
            <a:endParaRPr lang="es-PE" dirty="0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AB64633C-8060-6D3F-E097-64699D66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297618"/>
              </p:ext>
            </p:extLst>
          </p:nvPr>
        </p:nvGraphicFramePr>
        <p:xfrm>
          <a:off x="889596" y="3232730"/>
          <a:ext cx="8660803" cy="2423734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959665">
                  <a:extLst>
                    <a:ext uri="{9D8B030D-6E8A-4147-A177-3AD203B41FA5}">
                      <a16:colId xmlns:a16="http://schemas.microsoft.com/office/drawing/2014/main" val="1314091577"/>
                    </a:ext>
                  </a:extLst>
                </a:gridCol>
                <a:gridCol w="5701138">
                  <a:extLst>
                    <a:ext uri="{9D8B030D-6E8A-4147-A177-3AD203B41FA5}">
                      <a16:colId xmlns:a16="http://schemas.microsoft.com/office/drawing/2014/main" val="3482624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>
                          <a:effectLst/>
                        </a:rPr>
                        <a:t>Tratamiento</a:t>
                      </a:r>
                      <a:endParaRPr lang="es-PE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>
                          <a:effectLst/>
                        </a:rPr>
                        <a:t>Descripción</a:t>
                      </a:r>
                      <a:endParaRPr lang="es-PE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83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 dirty="0">
                          <a:effectLst/>
                        </a:rPr>
                        <a:t>T1 (Control)</a:t>
                      </a:r>
                      <a:endParaRPr lang="es-PE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>
                          <a:effectLst/>
                        </a:rPr>
                        <a:t>Semillas sin ningún tipo de escarificación.</a:t>
                      </a:r>
                      <a:endParaRPr lang="es-PE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905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 dirty="0">
                          <a:effectLst/>
                        </a:rPr>
                        <a:t>T2 (Lija)</a:t>
                      </a:r>
                      <a:endParaRPr lang="es-PE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>
                          <a:effectLst/>
                        </a:rPr>
                        <a:t>Lijar suavemente un extremo de la semilla hasta ver una leve exposición interna sin dañar el embrión (Talleres de Artes y Oficios C. Para el Bienestar, 2021)</a:t>
                      </a:r>
                      <a:endParaRPr lang="es-PE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318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 dirty="0">
                          <a:effectLst/>
                        </a:rPr>
                        <a:t>T3 ( Acetona)</a:t>
                      </a:r>
                      <a:endParaRPr lang="es-PE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>
                          <a:effectLst/>
                        </a:rPr>
                        <a:t>Vamos a sumergir en acetona pura, por 12 h (Merula et al. 2012).  </a:t>
                      </a:r>
                      <a:endParaRPr lang="es-PE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59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PE" sz="1800" kern="100" dirty="0">
                          <a:effectLst/>
                        </a:rPr>
                        <a:t>T4 ( Agua caliente) </a:t>
                      </a:r>
                      <a:endParaRPr lang="es-PE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s-PE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9365611"/>
                  </a:ext>
                </a:extLst>
              </a:tr>
            </a:tbl>
          </a:graphicData>
        </a:graphic>
      </p:graphicFrame>
      <p:sp>
        <p:nvSpPr>
          <p:cNvPr id="20" name="Cerrar llave 19">
            <a:extLst>
              <a:ext uri="{FF2B5EF4-FFF2-40B4-BE49-F238E27FC236}">
                <a16:creationId xmlns:a16="http://schemas.microsoft.com/office/drawing/2014/main" id="{C65FBC06-26AF-A611-2400-11F8ED05A2A9}"/>
              </a:ext>
            </a:extLst>
          </p:cNvPr>
          <p:cNvSpPr/>
          <p:nvPr/>
        </p:nvSpPr>
        <p:spPr>
          <a:xfrm>
            <a:off x="9318171" y="3090625"/>
            <a:ext cx="769257" cy="2707944"/>
          </a:xfrm>
          <a:prstGeom prst="rightBrac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A5CCD75-1EBE-6407-AADC-F0491691B1CA}"/>
              </a:ext>
            </a:extLst>
          </p:cNvPr>
          <p:cNvSpPr/>
          <p:nvPr/>
        </p:nvSpPr>
        <p:spPr>
          <a:xfrm>
            <a:off x="10182967" y="3623270"/>
            <a:ext cx="1399434" cy="14514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b="1" dirty="0">
                <a:solidFill>
                  <a:schemeClr val="tx1"/>
                </a:solidFill>
              </a:rPr>
              <a:t>6 repeticiones por cada tratamiento.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5BE23FF-DC46-E779-D37C-AFC7D8EC6BA2}"/>
              </a:ext>
            </a:extLst>
          </p:cNvPr>
          <p:cNvSpPr txBox="1"/>
          <p:nvPr/>
        </p:nvSpPr>
        <p:spPr>
          <a:xfrm>
            <a:off x="7442241" y="1202136"/>
            <a:ext cx="2645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PE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Variables a evaluar 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19D4F06-54CE-47DA-3C37-75C2D2D77B6E}"/>
              </a:ext>
            </a:extLst>
          </p:cNvPr>
          <p:cNvSpPr txBox="1"/>
          <p:nvPr/>
        </p:nvSpPr>
        <p:spPr>
          <a:xfrm>
            <a:off x="8764834" y="1875275"/>
            <a:ext cx="2817567" cy="390684"/>
          </a:xfrm>
          <a:prstGeom prst="rect">
            <a:avLst/>
          </a:prstGeom>
          <a:solidFill>
            <a:srgbClr val="F6CEA1"/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Porcentaje de germinación.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83ADE20-474E-ACCF-4250-E799337BDFFB}"/>
              </a:ext>
            </a:extLst>
          </p:cNvPr>
          <p:cNvSpPr txBox="1"/>
          <p:nvPr/>
        </p:nvSpPr>
        <p:spPr>
          <a:xfrm>
            <a:off x="6922572" y="2524332"/>
            <a:ext cx="3396343" cy="390684"/>
          </a:xfrm>
          <a:prstGeom prst="rect">
            <a:avLst/>
          </a:prstGeom>
          <a:solidFill>
            <a:srgbClr val="F5BA7E"/>
          </a:solidFill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Tiempo promedio de germinación.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57AFD2E-07D6-69CD-8D0B-F3CCABBFF3CD}"/>
              </a:ext>
            </a:extLst>
          </p:cNvPr>
          <p:cNvSpPr txBox="1"/>
          <p:nvPr/>
        </p:nvSpPr>
        <p:spPr>
          <a:xfrm>
            <a:off x="6096000" y="1666160"/>
            <a:ext cx="2455618" cy="709233"/>
          </a:xfrm>
          <a:prstGeom prst="rect">
            <a:avLst/>
          </a:prstGeom>
          <a:solidFill>
            <a:srgbClr val="EAA870"/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Índice de velocidad de germinación.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CB04644-8F81-A286-2FE4-DDA559EC6A41}"/>
              </a:ext>
            </a:extLst>
          </p:cNvPr>
          <p:cNvCxnSpPr/>
          <p:nvPr/>
        </p:nvCxnSpPr>
        <p:spPr>
          <a:xfrm>
            <a:off x="1967397" y="795591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929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DCCD-10CE-755A-36CD-C7B7A1AB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73D5BE2-A97B-ABD0-33B6-A04701630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9146"/>
            <a:ext cx="12192000" cy="431333"/>
          </a:xfrm>
          <a:prstGeom prst="rect">
            <a:avLst/>
          </a:prstGeom>
        </p:spPr>
      </p:pic>
      <p:sp>
        <p:nvSpPr>
          <p:cNvPr id="5" name="Marcador de fecha 16">
            <a:extLst>
              <a:ext uri="{FF2B5EF4-FFF2-40B4-BE49-F238E27FC236}">
                <a16:creationId xmlns:a16="http://schemas.microsoft.com/office/drawing/2014/main" id="{8F583FB7-465C-9657-2B11-A8C55264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572" y="6325354"/>
            <a:ext cx="2923082" cy="365125"/>
          </a:xfrm>
        </p:spPr>
        <p:txBody>
          <a:bodyPr/>
          <a:lstStyle/>
          <a:p>
            <a:fld id="{BF008430-D29B-4036-92CA-39ED10C0C6A0}" type="datetime1">
              <a:rPr lang="es-PE" sz="14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25/05/2025</a:t>
            </a:fld>
            <a:endParaRPr lang="es-PE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arcador de pie de página 6">
            <a:extLst>
              <a:ext uri="{FF2B5EF4-FFF2-40B4-BE49-F238E27FC236}">
                <a16:creationId xmlns:a16="http://schemas.microsoft.com/office/drawing/2014/main" id="{0099F476-11B1-90D0-B7B8-8B8B3A06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281" y="6321668"/>
            <a:ext cx="7848602" cy="365125"/>
          </a:xfrm>
        </p:spPr>
        <p:txBody>
          <a:bodyPr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Efecto de la escarificación física y química en la germinación de semillas de garbanzo (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Cicer</a:t>
            </a:r>
            <a:r>
              <a:rPr lang="es-PE" sz="1200" b="1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PE" sz="1200" b="1" i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arietinum</a:t>
            </a:r>
            <a:r>
              <a:rPr lang="es-PE" sz="1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s-PE" sz="1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Marcador de número de diapositiva 17">
            <a:extLst>
              <a:ext uri="{FF2B5EF4-FFF2-40B4-BE49-F238E27FC236}">
                <a16:creationId xmlns:a16="http://schemas.microsoft.com/office/drawing/2014/main" id="{437A0587-75D2-0E44-A2D3-DAADF79B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1" y="6282172"/>
            <a:ext cx="2923082" cy="365125"/>
          </a:xfrm>
        </p:spPr>
        <p:txBody>
          <a:bodyPr/>
          <a:lstStyle/>
          <a:p>
            <a:fld id="{3EC7F81E-29E0-4D23-92E9-9A334C8D50B4}" type="slidenum">
              <a:rPr lang="es-PE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s-PE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759CA22-514B-9F8E-72A5-6B429831712D}"/>
              </a:ext>
            </a:extLst>
          </p:cNvPr>
          <p:cNvSpPr txBox="1"/>
          <p:nvPr/>
        </p:nvSpPr>
        <p:spPr>
          <a:xfrm>
            <a:off x="1127713" y="441104"/>
            <a:ext cx="78674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spc="-10" dirty="0">
                <a:solidFill>
                  <a:srgbClr val="678D4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 REFERENCIAS BIBLIOGRAFICAS</a:t>
            </a:r>
          </a:p>
          <a:p>
            <a:endParaRPr lang="es-PE" sz="320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3126CF5-5191-243A-10F9-48A0C3D9469D}"/>
              </a:ext>
            </a:extLst>
          </p:cNvPr>
          <p:cNvCxnSpPr/>
          <p:nvPr/>
        </p:nvCxnSpPr>
        <p:spPr>
          <a:xfrm>
            <a:off x="2023300" y="1008968"/>
            <a:ext cx="5356412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112CD5-2C46-C12B-D639-46F083ED1BFB}"/>
              </a:ext>
            </a:extLst>
          </p:cNvPr>
          <p:cNvSpPr txBox="1"/>
          <p:nvPr/>
        </p:nvSpPr>
        <p:spPr>
          <a:xfrm>
            <a:off x="1127713" y="1520165"/>
            <a:ext cx="9477829" cy="3883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Merula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 &amp; Díaz, S. (2012).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Métodos, técnicas y tratamientos para inhibir dormancia en semillas de plantas forrajeras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Universidad de la Empresa Facultad de Ciencias Agrarias. Uruguay. </a:t>
            </a:r>
            <a:r>
              <a:rPr lang="es-PE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https://ainfo.inia.uy/digital/bitstream/item/12563/1/Pasantia-Post-grado-Merola-Saulo-Diaz-2012.pdf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Talleres de Artes y Oficios C. Para el Bienestar. (2021, 10 de noviembre).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Escarificación de semillas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[Video]. YouTube. </a:t>
            </a:r>
            <a:r>
              <a:rPr lang="es-PE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https://www.youtube.com/watch?v=3ibIup5d4cw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Coa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Urbaez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Mendez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Natera, J. R., Silva Acuña, R., &amp;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Mundarain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Padilla, S. (2014). Evaluación de métodos químicos y mecánicos para promover la germinación de semillas y producción de fosforitos en café (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Coffea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arábica) </a:t>
            </a:r>
            <a:r>
              <a:rPr lang="es-PE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Catuaí Rojo. </a:t>
            </a:r>
            <a:r>
              <a:rPr lang="es-PE" sz="1800" i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Idesia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(Arica)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PE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</a:t>
            </a: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(1), 43-53. </a:t>
            </a:r>
            <a:r>
              <a:rPr lang="es-PE" sz="18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https://doi.org/10.4067/S0718-34292014000100006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PE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P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0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E5FEFF-27F8-466E-B45D-55813929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40227-7BB2-49D8-91E6-652400A400A2}" type="datetime1">
              <a:rPr lang="es-PE" smtClean="0"/>
              <a:t>25/05/2025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3EDF57-5842-414F-A9D6-93F96D1E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894F4E-7F99-45AC-B67F-DC2FBF4A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7F81E-29E0-4D23-92E9-9A334C8D50B4}" type="slidenum">
              <a:rPr lang="es-PE" smtClean="0"/>
              <a:t>6</a:t>
            </a:fld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AFB5763-BCE1-43D7-9C92-596192F669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28" r="17983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808291A4-CB4A-4F80-92A6-64E2E45456DA}"/>
              </a:ext>
            </a:extLst>
          </p:cNvPr>
          <p:cNvGrpSpPr/>
          <p:nvPr/>
        </p:nvGrpSpPr>
        <p:grpSpPr>
          <a:xfrm>
            <a:off x="1843767" y="679207"/>
            <a:ext cx="3250005" cy="956805"/>
            <a:chOff x="319767" y="171207"/>
            <a:chExt cx="3250005" cy="956805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D9090B0-EC0E-49E1-97DD-1869C6C0FB1E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801"/>
            <a:stretch/>
          </p:blipFill>
          <p:spPr bwMode="auto">
            <a:xfrm>
              <a:off x="1320800" y="171207"/>
              <a:ext cx="2248972" cy="956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Logotipo - UNTRM">
              <a:extLst>
                <a:ext uri="{FF2B5EF4-FFF2-40B4-BE49-F238E27FC236}">
                  <a16:creationId xmlns:a16="http://schemas.microsoft.com/office/drawing/2014/main" id="{C72DDAFE-C891-4C76-A1A2-60D4219665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9199"/>
            <a:stretch/>
          </p:blipFill>
          <p:spPr bwMode="auto">
            <a:xfrm>
              <a:off x="319767" y="171207"/>
              <a:ext cx="1001033" cy="956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9FF2E388-05E4-474B-B57F-231716637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567" y="528312"/>
            <a:ext cx="1001033" cy="11077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BA2D85A-4DB1-4D1F-9F9E-BD015589E5D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392" y="780230"/>
            <a:ext cx="2082682" cy="76232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CA141841-5411-484D-AC06-ED17A434BF92}"/>
              </a:ext>
            </a:extLst>
          </p:cNvPr>
          <p:cNvSpPr txBox="1"/>
          <p:nvPr/>
        </p:nvSpPr>
        <p:spPr>
          <a:xfrm>
            <a:off x="3330895" y="2947342"/>
            <a:ext cx="49952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199389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637</Words>
  <Application>Microsoft Office PowerPoint</Application>
  <PresentationFormat>Panorámica</PresentationFormat>
  <Paragraphs>72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Georgia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JHODANY PAREJAS GONZALES</dc:creator>
  <cp:lastModifiedBy>JHODANY PAREJAS GONZALES</cp:lastModifiedBy>
  <cp:revision>2</cp:revision>
  <dcterms:created xsi:type="dcterms:W3CDTF">2025-05-26T02:13:01Z</dcterms:created>
  <dcterms:modified xsi:type="dcterms:W3CDTF">2025-05-26T03:08:22Z</dcterms:modified>
</cp:coreProperties>
</file>